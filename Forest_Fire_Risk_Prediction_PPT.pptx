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23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70344" y="37769"/>
            <a:ext cx="12191695" cy="6858000"/>
          </a:xfrm>
          <a:prstGeom prst="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4542" y="426304"/>
            <a:ext cx="10789920" cy="31393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endParaRPr lang="en-IN" b="1" i="0" dirty="0">
              <a:solidFill>
                <a:srgbClr val="FFFFFF"/>
              </a:solidFill>
              <a:latin typeface="Aptos"/>
            </a:endParaRPr>
          </a:p>
          <a:p>
            <a:r>
              <a:rPr lang="en-IN" b="1" i="0" dirty="0">
                <a:solidFill>
                  <a:srgbClr val="FFFFFF"/>
                </a:solidFill>
                <a:latin typeface="Aptos"/>
              </a:rPr>
              <a:t>TEAM -16</a:t>
            </a:r>
          </a:p>
          <a:p>
            <a:endParaRPr lang="en-IN" b="1" dirty="0">
              <a:solidFill>
                <a:srgbClr val="FFFFFF"/>
              </a:solidFill>
              <a:latin typeface="Aptos"/>
            </a:endParaRPr>
          </a:p>
          <a:p>
            <a:endParaRPr lang="en-IN" b="1" i="0" dirty="0">
              <a:solidFill>
                <a:srgbClr val="FFFFFF"/>
              </a:solidFill>
              <a:latin typeface="Aptos"/>
            </a:endParaRPr>
          </a:p>
          <a:p>
            <a:endParaRPr lang="en-IN" b="1" dirty="0">
              <a:solidFill>
                <a:srgbClr val="FFFFFF"/>
              </a:solidFill>
              <a:latin typeface="Aptos"/>
            </a:endParaRPr>
          </a:p>
          <a:p>
            <a:endParaRPr lang="en-IN" b="1" i="0" dirty="0">
              <a:solidFill>
                <a:srgbClr val="FFFFFF"/>
              </a:solidFill>
              <a:latin typeface="Aptos"/>
            </a:endParaRPr>
          </a:p>
          <a:p>
            <a:r>
              <a:rPr lang="en-IN" b="1" dirty="0">
                <a:solidFill>
                  <a:srgbClr val="FFFFFF"/>
                </a:solidFill>
                <a:latin typeface="Aptos"/>
              </a:rPr>
              <a:t>Forest Fire Risk Prediction</a:t>
            </a:r>
          </a:p>
          <a:p>
            <a:endParaRPr lang="en-IN" b="1" dirty="0">
              <a:solidFill>
                <a:srgbClr val="FFFFFF"/>
              </a:solidFill>
              <a:latin typeface="Aptos"/>
            </a:endParaRPr>
          </a:p>
          <a:p>
            <a:endParaRPr lang="en-IN" b="1" i="0" dirty="0">
              <a:solidFill>
                <a:srgbClr val="FFFFFF"/>
              </a:solidFill>
              <a:latin typeface="Aptos"/>
            </a:endParaRPr>
          </a:p>
          <a:p>
            <a:endParaRPr lang="en-IN" b="1" i="0" dirty="0">
              <a:solidFill>
                <a:srgbClr val="FFFFFF"/>
              </a:solidFill>
              <a:latin typeface="Aptos"/>
            </a:endParaRPr>
          </a:p>
          <a:p>
            <a:pPr algn="l"/>
            <a:endParaRPr b="1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320522"/>
            <a:ext cx="10515600" cy="17543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endParaRPr lang="en-IN" dirty="0">
              <a:solidFill>
                <a:srgbClr val="FFFFFF"/>
              </a:solidFill>
              <a:latin typeface="Aptos"/>
            </a:endParaRPr>
          </a:p>
          <a:p>
            <a:pPr algn="l"/>
            <a:endParaRPr lang="en-IN" b="0" i="0" dirty="0">
              <a:solidFill>
                <a:srgbClr val="FFFFFF"/>
              </a:solidFill>
              <a:latin typeface="Aptos"/>
            </a:endParaRPr>
          </a:p>
          <a:p>
            <a:pPr algn="l"/>
            <a:endParaRPr lang="en-IN" dirty="0">
              <a:solidFill>
                <a:srgbClr val="FFFFFF"/>
              </a:solidFill>
              <a:latin typeface="Aptos"/>
            </a:endParaRPr>
          </a:p>
          <a:p>
            <a:pPr algn="l"/>
            <a:endParaRPr lang="en-IN" dirty="0">
              <a:solidFill>
                <a:srgbClr val="FFFFFF"/>
              </a:solidFill>
              <a:latin typeface="Aptos"/>
            </a:endParaRPr>
          </a:p>
          <a:p>
            <a:r>
              <a:rPr lang="en-US" dirty="0">
                <a:solidFill>
                  <a:srgbClr val="FFFFFF"/>
                </a:solidFill>
                <a:latin typeface="Aptos"/>
              </a:rPr>
              <a:t>Using Random Forest and Gradient-Boosted Trees</a:t>
            </a:r>
          </a:p>
          <a:p>
            <a:pPr algn="l"/>
            <a:endParaRPr b="0" i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983480"/>
            <a:ext cx="18288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i="0" dirty="0">
                <a:solidFill>
                  <a:srgbClr val="FFFFFF"/>
                </a:solidFill>
                <a:latin typeface="Aptos"/>
              </a:rPr>
              <a:t>PRESENTED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0352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i="0" dirty="0">
                <a:solidFill>
                  <a:srgbClr val="FFFFFF"/>
                </a:solidFill>
                <a:latin typeface="Aptos"/>
              </a:rPr>
              <a:t>A. Kuvira -2520030192
K. Rishita-2520030367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2560320" cy="320040"/>
          </a:xfrm>
          <a:prstGeom prst="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txBody>
          <a:bodyPr wrap="square" anchor="t">
            <a:spAutoFit/>
          </a:bodyPr>
          <a:lstStyle/>
          <a:p>
            <a:pPr algn="ctr"/>
            <a:r>
              <a:rPr sz="1000" b="1" i="0">
                <a:solidFill>
                  <a:srgbClr val="85183F"/>
                </a:solidFill>
                <a:latin typeface="Aptos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F2037"/>
                </a:solidFill>
                <a:latin typeface="Aptos"/>
              </a:rPr>
              <a:t>Agenda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46520"/>
            <a:ext cx="320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1F2037"/>
                </a:solidFill>
                <a:latin typeface="Aptos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3677" y="1518699"/>
            <a:ext cx="5541531" cy="2878371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758952" y="1673351"/>
            <a:ext cx="329184" cy="329184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636776"/>
            <a:ext cx="32918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1664207"/>
            <a:ext cx="4526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2037"/>
                </a:solidFill>
                <a:latin typeface="Aptos"/>
              </a:rPr>
              <a:t>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082744"/>
            <a:ext cx="4507992" cy="18158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5D6070"/>
                </a:solidFill>
                <a:latin typeface="Aptos"/>
              </a:rPr>
              <a:t>Problem Statement
Objectives
Dataset Overview
Exploratory Data Analysis
Preprocessing
Features &amp; Risk Categories
Methodology &amp; Models
Results &amp; Conclusion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011679"/>
            <a:ext cx="5394960" cy="425196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36792" y="1673351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1636776"/>
            <a:ext cx="32918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664207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2037"/>
                </a:solidFill>
                <a:latin typeface="Aptos"/>
              </a:rPr>
              <a:t>Problem Statement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8227" y="2331320"/>
            <a:ext cx="4553712" cy="31085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 dirty="0">
                <a:solidFill>
                  <a:srgbClr val="5D6070"/>
                </a:solidFill>
                <a:latin typeface="Aptos"/>
              </a:rPr>
              <a:t>Forest fires can spread rapidly under dry, hot and windy conditions. Predicting burned area from environmental and weather-related factors can help identify conditions associated with greater fire impact.
A data-driven regression system can estimate burned area from spatial, temporal and meteorological variables, providing a basis for fire-risk categorization.
517 forest-fire records
Goal: predict burned area using supervised machine learning and compare Random Forest with Gradient Boosting.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2560320" cy="338554"/>
          </a:xfrm>
          <a:prstGeom prst="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85183F"/>
                </a:solidFill>
                <a:latin typeface="Aptos"/>
              </a:rPr>
              <a:t>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46520"/>
            <a:ext cx="320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 i="0">
                <a:solidFill>
                  <a:srgbClr val="1F2037"/>
                </a:solidFill>
                <a:latin typeface="Aptos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5349240" cy="192024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Rounded Rectangle 5"/>
          <p:cNvSpPr/>
          <p:nvPr/>
        </p:nvSpPr>
        <p:spPr>
          <a:xfrm>
            <a:off x="758952" y="1673351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7" name="TextBox 6"/>
          <p:cNvSpPr txBox="1"/>
          <p:nvPr/>
        </p:nvSpPr>
        <p:spPr>
          <a:xfrm>
            <a:off x="758952" y="163209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1664207"/>
            <a:ext cx="4526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Explore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112264"/>
            <a:ext cx="450799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Analyze distributions, correlations, monthly patterns, outliers and relationships with burned area.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508760"/>
            <a:ext cx="5394960" cy="192024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1" name="Rounded Rectangle 10"/>
          <p:cNvSpPr/>
          <p:nvPr/>
        </p:nvSpPr>
        <p:spPr>
          <a:xfrm>
            <a:off x="6336792" y="1673351"/>
            <a:ext cx="329184" cy="329184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6336792" y="163209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664207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Prepare the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2112264"/>
            <a:ext cx="455371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Encode month/day and organize numerical and categorical predictors for model training.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57600"/>
            <a:ext cx="5349240" cy="192024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6" name="Rounded Rectangle 15"/>
          <p:cNvSpPr/>
          <p:nvPr/>
        </p:nvSpPr>
        <p:spPr>
          <a:xfrm>
            <a:off x="758952" y="3822191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7" name="TextBox 16"/>
          <p:cNvSpPr txBox="1"/>
          <p:nvPr/>
        </p:nvSpPr>
        <p:spPr>
          <a:xfrm>
            <a:off x="758952" y="3780930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3813048"/>
            <a:ext cx="4526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Compare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4261104"/>
            <a:ext cx="450799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Evaluate Random Forest Regressor and Gradient Boosting Regressor using MAE, MSE, RMSE and R².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394960" cy="192024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1" name="Rounded Rectangle 20"/>
          <p:cNvSpPr/>
          <p:nvPr/>
        </p:nvSpPr>
        <p:spPr>
          <a:xfrm>
            <a:off x="6336792" y="3822191"/>
            <a:ext cx="329184" cy="329184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2" name="TextBox 21"/>
          <p:cNvSpPr txBox="1"/>
          <p:nvPr/>
        </p:nvSpPr>
        <p:spPr>
          <a:xfrm>
            <a:off x="6336792" y="3780930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381304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Surface Key Drivers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4261104"/>
            <a:ext cx="455371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Rank feature importance to understand which environmental variables contribute most to the prediction.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46520"/>
            <a:ext cx="4114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Forest Fire Risk Prediction  |  Batch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2560320" cy="338554"/>
          </a:xfrm>
          <a:prstGeom prst="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85183F"/>
                </a:solidFill>
                <a:latin typeface="Aptos"/>
              </a:rPr>
              <a:t>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Dataset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46520"/>
            <a:ext cx="320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 i="0">
                <a:solidFill>
                  <a:srgbClr val="1F2037"/>
                </a:solidFill>
                <a:latin typeface="Aptos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2331720" cy="14173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TextBox 5"/>
          <p:cNvSpPr txBox="1"/>
          <p:nvPr/>
        </p:nvSpPr>
        <p:spPr>
          <a:xfrm>
            <a:off x="594360" y="1664208"/>
            <a:ext cx="23317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F2037"/>
                </a:solidFill>
                <a:latin typeface="Aptos"/>
              </a:rPr>
              <a:t>517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23317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1F2037"/>
                </a:solidFill>
                <a:latin typeface="Aptos"/>
              </a:rPr>
              <a:t>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417320"/>
            <a:ext cx="2331720" cy="14173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9" name="TextBox 8"/>
          <p:cNvSpPr txBox="1"/>
          <p:nvPr/>
        </p:nvSpPr>
        <p:spPr>
          <a:xfrm>
            <a:off x="3474720" y="1664208"/>
            <a:ext cx="23317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F2037"/>
                </a:solidFill>
                <a:latin typeface="Apto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212848"/>
            <a:ext cx="23317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1F2037"/>
                </a:solidFill>
                <a:latin typeface="Aptos"/>
              </a:rPr>
              <a:t>Predictor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417320"/>
            <a:ext cx="2331720" cy="14173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6355080" y="1664208"/>
            <a:ext cx="23317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F2037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212848"/>
            <a:ext cx="23317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1F2037"/>
                </a:solidFill>
                <a:latin typeface="Aptos"/>
              </a:rPr>
              <a:t>Target Variable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417320"/>
            <a:ext cx="2331720" cy="14173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5" name="TextBox 14"/>
          <p:cNvSpPr txBox="1"/>
          <p:nvPr/>
        </p:nvSpPr>
        <p:spPr>
          <a:xfrm>
            <a:off x="9235440" y="1664208"/>
            <a:ext cx="23317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F2037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212848"/>
            <a:ext cx="23317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1F2037"/>
                </a:solidFill>
                <a:latin typeface="Aptos"/>
              </a:rPr>
              <a:t>Models Compared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46120"/>
            <a:ext cx="108813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1F2037"/>
                </a:solidFill>
                <a:latin typeface="Aptos"/>
              </a:rPr>
              <a:t>The Forest Fires dataset contains 517 records and 13 columns: 12 predictors plus the burned-area target.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069080"/>
            <a:ext cx="1088136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1F2037"/>
                </a:solidFill>
                <a:latin typeface="Aptos"/>
              </a:rPr>
              <a:t>Predictors include spatial coordinates, month/day, Fire Weather Index components, temperature, relative humidity, wind and rain.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46520"/>
            <a:ext cx="4114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Forest Fire Risk Prediction  |  Batch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2560320" cy="338554"/>
          </a:xfrm>
          <a:prstGeom prst="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85183F"/>
                </a:solidFill>
                <a:latin typeface="Aptos"/>
              </a:rPr>
              <a:t>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46520"/>
            <a:ext cx="320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 i="0">
                <a:solidFill>
                  <a:srgbClr val="1F2037"/>
                </a:solidFill>
                <a:latin typeface="Aptos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5349240" cy="1874519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Rounded Rectangle 5"/>
          <p:cNvSpPr/>
          <p:nvPr/>
        </p:nvSpPr>
        <p:spPr>
          <a:xfrm>
            <a:off x="758952" y="1581912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7" name="TextBox 6"/>
          <p:cNvSpPr txBox="1"/>
          <p:nvPr/>
        </p:nvSpPr>
        <p:spPr>
          <a:xfrm>
            <a:off x="758952" y="154065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1572768"/>
            <a:ext cx="4526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Categorical Attributes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020824"/>
            <a:ext cx="450799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Analyzed month and day distributions and prepared them for one-hot encoding.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394960" cy="1874519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1" name="Rounded Rectangle 10"/>
          <p:cNvSpPr/>
          <p:nvPr/>
        </p:nvSpPr>
        <p:spPr>
          <a:xfrm>
            <a:off x="6336792" y="1581912"/>
            <a:ext cx="329184" cy="329184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6336792" y="154065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57276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Numerical Attributes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2020824"/>
            <a:ext cx="455371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Examined X, Y, FFMC, DMC, DC, ISI, temperature, RH, wind, rain and burned area.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11880"/>
            <a:ext cx="5349240" cy="1874519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6" name="Rounded Rectangle 15"/>
          <p:cNvSpPr/>
          <p:nvPr/>
        </p:nvSpPr>
        <p:spPr>
          <a:xfrm>
            <a:off x="758952" y="3776472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7" name="TextBox 16"/>
          <p:cNvSpPr txBox="1"/>
          <p:nvPr/>
        </p:nvSpPr>
        <p:spPr>
          <a:xfrm>
            <a:off x="758952" y="373521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3767328"/>
            <a:ext cx="4526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Data Quality Issues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4215384"/>
            <a:ext cx="450799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Found 4 duplicate rows (removed) and no missing values in any of the 13 columns.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11880"/>
            <a:ext cx="5394960" cy="1874519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1" name="Rounded Rectangle 20"/>
          <p:cNvSpPr/>
          <p:nvPr/>
        </p:nvSpPr>
        <p:spPr>
          <a:xfrm>
            <a:off x="6336792" y="3776472"/>
            <a:ext cx="329184" cy="329184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2" name="TextBox 21"/>
          <p:cNvSpPr txBox="1"/>
          <p:nvPr/>
        </p:nvSpPr>
        <p:spPr>
          <a:xfrm>
            <a:off x="6336792" y="373521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376732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Target Distribution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4215384"/>
            <a:ext cx="455371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Burned area is strongly concentrated near zero, so the supplied code also creates log(1 + area) for exploratory analysis.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46520"/>
            <a:ext cx="4114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Forest Fire Risk Prediction  |  Batch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2560320" cy="338554"/>
          </a:xfrm>
          <a:prstGeom prst="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85183F"/>
                </a:solidFill>
                <a:latin typeface="Aptos"/>
              </a:rP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Data Preprocessing &amp; Final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46520"/>
            <a:ext cx="320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 i="0">
                <a:solidFill>
                  <a:srgbClr val="1F2037"/>
                </a:solidFill>
                <a:latin typeface="Aptos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4754880" cy="43891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114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Data Preprocessing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4206240" cy="502920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8" name="TextBox 7"/>
          <p:cNvSpPr txBox="1"/>
          <p:nvPr/>
        </p:nvSpPr>
        <p:spPr>
          <a:xfrm>
            <a:off x="1051560" y="2304175"/>
            <a:ext cx="38404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1. Remove Duplicates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953512"/>
            <a:ext cx="4206240" cy="502920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0" name="TextBox 9"/>
          <p:cNvSpPr txBox="1"/>
          <p:nvPr/>
        </p:nvSpPr>
        <p:spPr>
          <a:xfrm>
            <a:off x="1051560" y="3017407"/>
            <a:ext cx="38404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2. Encode Month &amp;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666744"/>
            <a:ext cx="4206240" cy="502920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1051560" y="3730639"/>
            <a:ext cx="38404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3. Keep Numerical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379976"/>
            <a:ext cx="4206240" cy="502920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4" name="TextBox 13"/>
          <p:cNvSpPr txBox="1"/>
          <p:nvPr/>
        </p:nvSpPr>
        <p:spPr>
          <a:xfrm>
            <a:off x="1051560" y="4443871"/>
            <a:ext cx="38404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4. 80 / 20 Train–Test Split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1417320"/>
            <a:ext cx="6035040" cy="43891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7" name="TextBox 16"/>
          <p:cNvSpPr txBox="1"/>
          <p:nvPr/>
        </p:nvSpPr>
        <p:spPr>
          <a:xfrm>
            <a:off x="5806440" y="1645920"/>
            <a:ext cx="53949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12 Final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194560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1. X Coordinate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59" y="2194560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2. Y Coordinate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761488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3.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59" y="2761488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4.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3328415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5. FFMC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59" y="3328415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6. DMC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3895344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7. DC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59" y="3895344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8. ISI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4462272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9. Temperature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59" y="4462272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10. Relative Humidity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5029200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11. Wind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5029200"/>
            <a:ext cx="2606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12. Rain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446520"/>
            <a:ext cx="4114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Forest Fire Risk Prediction  |  Batch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2560320" cy="338554"/>
          </a:xfrm>
          <a:prstGeom prst="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85183F"/>
                </a:solidFill>
                <a:latin typeface="Aptos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Models Compared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46520"/>
            <a:ext cx="320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 i="0">
                <a:solidFill>
                  <a:srgbClr val="1F2037"/>
                </a:solidFill>
                <a:latin typeface="Aptos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356616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Rounded Rectangle 5"/>
          <p:cNvSpPr/>
          <p:nvPr/>
        </p:nvSpPr>
        <p:spPr>
          <a:xfrm>
            <a:off x="758952" y="1673351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7" name="TextBox 6"/>
          <p:cNvSpPr txBox="1"/>
          <p:nvPr/>
        </p:nvSpPr>
        <p:spPr>
          <a:xfrm>
            <a:off x="758952" y="163209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1664207"/>
            <a:ext cx="2697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Random Forest Regressor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112264"/>
            <a:ext cx="2679192" cy="1323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RMSE 19.91
Ensemble of 300 decision trees, trained on the log(1+area) target to reduce the effect of outlier fires.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08760"/>
            <a:ext cx="3520440" cy="356616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1" name="Rounded Rectangle 10"/>
          <p:cNvSpPr/>
          <p:nvPr/>
        </p:nvSpPr>
        <p:spPr>
          <a:xfrm>
            <a:off x="4507992" y="1673351"/>
            <a:ext cx="329184" cy="329184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4507992" y="163209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1664207"/>
            <a:ext cx="269748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Gradient Boosting Regressor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37176" y="2317487"/>
            <a:ext cx="2679192" cy="1323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dirty="0">
                <a:solidFill>
                  <a:srgbClr val="5D6070"/>
                </a:solidFill>
                <a:latin typeface="Aptos"/>
              </a:rPr>
              <a:t>RMSE 20.72
300-stage boosted trees (learning rate 0.05, depth 3), also trained on log(1+area).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508760"/>
            <a:ext cx="3474720" cy="356616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6" name="Rounded Rectangle 15"/>
          <p:cNvSpPr/>
          <p:nvPr/>
        </p:nvSpPr>
        <p:spPr>
          <a:xfrm>
            <a:off x="8257031" y="1673351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7" name="TextBox 16"/>
          <p:cNvSpPr txBox="1"/>
          <p:nvPr/>
        </p:nvSpPr>
        <p:spPr>
          <a:xfrm>
            <a:off x="8257031" y="163209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4232" y="1664207"/>
            <a:ext cx="26517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Evaluation &amp; Selection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2112264"/>
            <a:ext cx="2633472" cy="30469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Baseline RMSE 20.86
Compared using MAE, MSE, RMSE and R²; the higher R² determines the selected model.
Both beat their raw-area counterparts, but land close to a "predict the mean" baseline.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2560320" cy="338554"/>
          </a:xfrm>
          <a:prstGeom prst="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85183F"/>
                </a:solidFill>
                <a:latin typeface="Aptos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Python Machine Learning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46520"/>
            <a:ext cx="320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 i="0">
                <a:solidFill>
                  <a:srgbClr val="1F2037"/>
                </a:solidFill>
                <a:latin typeface="Aptos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5349240" cy="14173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Rounded Rectangle 5"/>
          <p:cNvSpPr/>
          <p:nvPr/>
        </p:nvSpPr>
        <p:spPr>
          <a:xfrm>
            <a:off x="758952" y="1673351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7" name="TextBox 6"/>
          <p:cNvSpPr txBox="1"/>
          <p:nvPr/>
        </p:nvSpPr>
        <p:spPr>
          <a:xfrm>
            <a:off x="758952" y="163209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1664207"/>
            <a:ext cx="4526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Pandas + NumPy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112264"/>
            <a:ext cx="4507992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Data loading, cleaning and numerical operations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508760"/>
            <a:ext cx="5394960" cy="14173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1" name="Rounded Rectangle 10"/>
          <p:cNvSpPr/>
          <p:nvPr/>
        </p:nvSpPr>
        <p:spPr>
          <a:xfrm>
            <a:off x="6336792" y="1673351"/>
            <a:ext cx="329184" cy="329184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6336792" y="163209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664207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Matplotlib + Seaborn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2112264"/>
            <a:ext cx="455371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Distributions, boxplots, heatmaps and model plots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246120"/>
            <a:ext cx="5349240" cy="14173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6" name="Rounded Rectangle 15"/>
          <p:cNvSpPr/>
          <p:nvPr/>
        </p:nvSpPr>
        <p:spPr>
          <a:xfrm>
            <a:off x="758952" y="3410712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7" name="TextBox 16"/>
          <p:cNvSpPr txBox="1"/>
          <p:nvPr/>
        </p:nvSpPr>
        <p:spPr>
          <a:xfrm>
            <a:off x="758952" y="336945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3401568"/>
            <a:ext cx="4526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Scikit-learn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3849624"/>
            <a:ext cx="450799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Preprocessing, train-test split, models and 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246120"/>
            <a:ext cx="5394960" cy="14173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1" name="Rounded Rectangle 20"/>
          <p:cNvSpPr/>
          <p:nvPr/>
        </p:nvSpPr>
        <p:spPr>
          <a:xfrm>
            <a:off x="6336792" y="3410712"/>
            <a:ext cx="329184" cy="329184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2" name="TextBox 21"/>
          <p:cNvSpPr txBox="1"/>
          <p:nvPr/>
        </p:nvSpPr>
        <p:spPr>
          <a:xfrm>
            <a:off x="6336792" y="336945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340156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3849624"/>
            <a:ext cx="455371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One-hot encoding + model training in one workflow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46520"/>
            <a:ext cx="4114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Forest Fire Risk Prediction  |  Batch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55423"/>
            <a:ext cx="2560320" cy="338554"/>
          </a:xfrm>
          <a:prstGeom prst="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85183F"/>
                </a:solidFill>
                <a:latin typeface="Aptos"/>
              </a:rPr>
              <a:t>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5191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EDA Outputs &amp; Model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54471"/>
            <a:ext cx="320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 i="0">
                <a:solidFill>
                  <a:srgbClr val="1F2037"/>
                </a:solidFill>
                <a:latin typeface="Aptos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25271"/>
            <a:ext cx="5349240" cy="43891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TextBox 5"/>
          <p:cNvSpPr txBox="1"/>
          <p:nvPr/>
        </p:nvSpPr>
        <p:spPr>
          <a:xfrm>
            <a:off x="822960" y="1608151"/>
            <a:ext cx="48920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EDA Outputs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9631"/>
            <a:ext cx="4892040" cy="20851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5D6070"/>
                </a:solidFill>
                <a:latin typeface="Aptos"/>
              </a:defRPr>
            </a:pPr>
            <a:r>
              <a:rPr sz="1600"/>
              <a:t>Distributions — Histograms for numerical variables + burned area</a:t>
            </a:r>
          </a:p>
          <a:p>
            <a:pPr>
              <a:spcAft>
                <a:spcPts val="700"/>
              </a:spcAft>
              <a:defRPr sz="1150">
                <a:solidFill>
                  <a:srgbClr val="5D6070"/>
                </a:solidFill>
                <a:latin typeface="Aptos"/>
              </a:defRPr>
            </a:pPr>
            <a:r>
              <a:rPr sz="1600"/>
              <a:t>Boxplot — Outlier inspection across numerical variables</a:t>
            </a:r>
          </a:p>
          <a:p>
            <a:pPr>
              <a:spcAft>
                <a:spcPts val="700"/>
              </a:spcAft>
              <a:defRPr sz="1150">
                <a:solidFill>
                  <a:srgbClr val="5D6070"/>
                </a:solidFill>
                <a:latin typeface="Aptos"/>
              </a:defRPr>
            </a:pPr>
            <a:r>
              <a:rPr sz="1600"/>
              <a:t>Month / Day — Record counts by month and day</a:t>
            </a:r>
          </a:p>
          <a:p>
            <a:pPr>
              <a:spcAft>
                <a:spcPts val="700"/>
              </a:spcAft>
              <a:defRPr sz="1150">
                <a:solidFill>
                  <a:srgbClr val="5D6070"/>
                </a:solidFill>
                <a:latin typeface="Aptos"/>
              </a:defRPr>
            </a:pPr>
            <a:r>
              <a:rPr sz="1600"/>
              <a:t>Correlation — Correlation matrix for predictors and area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25271"/>
            <a:ext cx="5394960" cy="438912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9" name="TextBox 8"/>
          <p:cNvSpPr txBox="1"/>
          <p:nvPr/>
        </p:nvSpPr>
        <p:spPr>
          <a:xfrm>
            <a:off x="6400800" y="1608151"/>
            <a:ext cx="49377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Model Outputs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9631"/>
            <a:ext cx="4937760" cy="20851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5D6070"/>
                </a:solidFill>
                <a:latin typeface="Aptos"/>
              </a:defRPr>
            </a:pPr>
            <a:r>
              <a:rPr sz="1600"/>
              <a:t>Random Forest — Actual vs predicted area + feature importance</a:t>
            </a:r>
          </a:p>
          <a:p>
            <a:pPr>
              <a:spcAft>
                <a:spcPts val="700"/>
              </a:spcAft>
              <a:defRPr sz="1150">
                <a:solidFill>
                  <a:srgbClr val="5D6070"/>
                </a:solidFill>
                <a:latin typeface="Aptos"/>
              </a:defRPr>
            </a:pPr>
            <a:r>
              <a:rPr sz="1600"/>
              <a:t>Gradient Boosting — Actual vs predicted area + feature importance</a:t>
            </a:r>
          </a:p>
          <a:p>
            <a:pPr>
              <a:spcAft>
                <a:spcPts val="700"/>
              </a:spcAft>
              <a:defRPr sz="1150">
                <a:solidFill>
                  <a:srgbClr val="5D6070"/>
                </a:solidFill>
                <a:latin typeface="Aptos"/>
              </a:defRPr>
            </a:pPr>
            <a:r>
              <a:rPr sz="1600"/>
              <a:t>Error Metrics — MAE • MSE • RMSE • R²</a:t>
            </a:r>
          </a:p>
          <a:p>
            <a:pPr>
              <a:spcAft>
                <a:spcPts val="700"/>
              </a:spcAft>
              <a:defRPr sz="1150">
                <a:solidFill>
                  <a:srgbClr val="5D6070"/>
                </a:solidFill>
                <a:latin typeface="Aptos"/>
              </a:defRPr>
            </a:pPr>
            <a:r>
              <a:rPr sz="1600"/>
              <a:t>Risk Categories — Low • Medium • High based on burned area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2560320" cy="338554"/>
          </a:xfrm>
          <a:prstGeom prst="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85183F"/>
                </a:solidFill>
                <a:latin typeface="Apto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Final Model Performance &amp; Regression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46520"/>
            <a:ext cx="32004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 i="0">
                <a:solidFill>
                  <a:srgbClr val="1F2037"/>
                </a:solidFill>
                <a:latin typeface="Aptos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5349240" cy="3604046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Rounded Rectangle 5"/>
          <p:cNvSpPr/>
          <p:nvPr/>
        </p:nvSpPr>
        <p:spPr>
          <a:xfrm>
            <a:off x="758952" y="1581912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7" name="TextBox 6"/>
          <p:cNvSpPr txBox="1"/>
          <p:nvPr/>
        </p:nvSpPr>
        <p:spPr>
          <a:xfrm>
            <a:off x="758952" y="154065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1572768"/>
            <a:ext cx="4526279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Final Model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020824"/>
            <a:ext cx="4507992" cy="28007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dirty="0">
                <a:solidFill>
                  <a:srgbClr val="5D6070"/>
                </a:solidFill>
                <a:latin typeface="Aptos"/>
              </a:rPr>
              <a:t>Two ensemble regressors trained on log(1+area), evaluated on the same 20% test split.
R² = -0.03 — Random Forest (best)
R² = -0.11 — Gradient Boosting
R² =  0.00 — Baseline (mean only)
Random Forest is selected for the higher R², but both are only on par with the naive baseline.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25440" cy="2447014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1" name="Rounded Rectangle 10"/>
          <p:cNvSpPr/>
          <p:nvPr/>
        </p:nvSpPr>
        <p:spPr>
          <a:xfrm>
            <a:off x="6336792" y="1581912"/>
            <a:ext cx="329184" cy="329184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6336792" y="154065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572768"/>
            <a:ext cx="45720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Regression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2020824"/>
            <a:ext cx="4553712" cy="1569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MAE — Mean Absolute Error — Lower is better
MSE — Mean Squared Error — Lower is better
RMSE — Root Mean Squared Error — Lower is better
R² — Coefficient of determination — Higher is better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5385945"/>
            <a:ext cx="1828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85183F"/>
                </a:solidFill>
                <a:latin typeface="Aptos"/>
              </a:rPr>
              <a:t>MAE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5473946"/>
            <a:ext cx="1828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C2C4E"/>
                </a:solidFill>
                <a:latin typeface="Aptos"/>
              </a:rPr>
              <a:t>MSE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3992" y="5473946"/>
            <a:ext cx="1828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85183F"/>
                </a:solidFill>
                <a:latin typeface="Aptos"/>
              </a:rPr>
              <a:t>RMSE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5440680"/>
            <a:ext cx="1828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1C2C4E"/>
                </a:solidFill>
                <a:latin typeface="Aptos"/>
              </a:rPr>
              <a:t>R²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89078"/>
            <a:ext cx="1024128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dirty="0">
                <a:solidFill>
                  <a:srgbClr val="5D6070"/>
                </a:solidFill>
                <a:latin typeface="Aptos"/>
              </a:rPr>
              <a:t>The evaluation metrics are used to understand prediction error and model performance.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4114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Forest Fire Risk Prediction  |  Batch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2560320" cy="338554"/>
          </a:xfrm>
          <a:prstGeom prst="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85183F"/>
                </a:solidFill>
                <a:latin typeface="Aptos"/>
              </a:rPr>
              <a:t>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Feature Importance &amp; 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46520"/>
            <a:ext cx="32004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 i="0">
                <a:solidFill>
                  <a:srgbClr val="1F2037"/>
                </a:solidFill>
                <a:latin typeface="Aptos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6583680" cy="434340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Rounded Rectangle 5"/>
          <p:cNvSpPr/>
          <p:nvPr/>
        </p:nvSpPr>
        <p:spPr>
          <a:xfrm>
            <a:off x="758952" y="1581912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7" name="TextBox 6"/>
          <p:cNvSpPr txBox="1"/>
          <p:nvPr/>
        </p:nvSpPr>
        <p:spPr>
          <a:xfrm>
            <a:off x="758952" y="154065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1572768"/>
            <a:ext cx="5760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Feature Importance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020824"/>
            <a:ext cx="5742432" cy="1569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For the fire-risk classifier, the top drivers were the weather variables rather than location or date.
temp • RH • DMC • DC • wind • X • FFMC • ISI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417320"/>
            <a:ext cx="4160520" cy="434340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1" name="Rounded Rectangle 10"/>
          <p:cNvSpPr/>
          <p:nvPr/>
        </p:nvSpPr>
        <p:spPr>
          <a:xfrm>
            <a:off x="7571231" y="1581912"/>
            <a:ext cx="329184" cy="329184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7571231" y="154065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1572768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Dataset &amp; Reference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2020824"/>
            <a:ext cx="3319272" cy="40318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dirty="0">
                <a:solidFill>
                  <a:srgbClr val="5D6070"/>
                </a:solidFill>
                <a:latin typeface="Aptos"/>
              </a:rPr>
              <a:t>Forest Fire Risk Prediction using ML Techniques
UCI Forest Fires Dataset
517 records • 12 predictor features • burned area target
UCI Machine Learning Repository, Dataset 162
Cortez &amp; Morais (2007)
A Data Mining Approach to Predict Forest Fires using Meteorological Data
EPIA 2007, pp. 512–523
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2560320" cy="338554"/>
          </a:xfrm>
          <a:prstGeom prst="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85183F"/>
                </a:solidFill>
                <a:latin typeface="Aptos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Conclusion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5720" y="6446520"/>
            <a:ext cx="32004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 i="0">
                <a:solidFill>
                  <a:srgbClr val="1F2037"/>
                </a:solidFill>
                <a:latin typeface="Aptos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5349240" cy="429768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6" name="Rounded Rectangle 5"/>
          <p:cNvSpPr/>
          <p:nvPr/>
        </p:nvSpPr>
        <p:spPr>
          <a:xfrm>
            <a:off x="758952" y="1581912"/>
            <a:ext cx="329184" cy="329184"/>
          </a:xfrm>
          <a:prstGeom prst="roundRect">
            <a:avLst/>
          </a:prstGeom>
          <a:solidFill>
            <a:srgbClr val="85183F"/>
          </a:solidFill>
          <a:ln>
            <a:solidFill>
              <a:srgbClr val="8518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7" name="TextBox 6"/>
          <p:cNvSpPr txBox="1"/>
          <p:nvPr/>
        </p:nvSpPr>
        <p:spPr>
          <a:xfrm>
            <a:off x="758952" y="154065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1572768"/>
            <a:ext cx="4526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020824"/>
            <a:ext cx="4507992" cy="25545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Predicting exact burned area is very hard from weather alone — both regressors land close to a naive baseline (R² ≈ 0), matching the original Cortez &amp; Morais study.
Reframing as Low / Medium / High risk is more tractable: Gradient Boosting reached ~50% test accuracy, modestly above the 47.6% majority-class baseline.
Weather variables (temperature, humidity, drought indices) mattered most.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394960" cy="4297680"/>
          </a:xfrm>
          <a:prstGeom prst="roundRect">
            <a:avLst/>
          </a:prstGeom>
          <a:solidFill>
            <a:srgbClr val="F8F3F6"/>
          </a:solidFill>
          <a:ln>
            <a:solidFill>
              <a:srgbClr val="F8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1" name="Rounded Rectangle 10"/>
          <p:cNvSpPr/>
          <p:nvPr/>
        </p:nvSpPr>
        <p:spPr>
          <a:xfrm>
            <a:off x="6336792" y="1581912"/>
            <a:ext cx="329184" cy="329184"/>
          </a:xfrm>
          <a:prstGeom prst="roundRect">
            <a:avLst/>
          </a:prstGeom>
          <a:solidFill>
            <a:srgbClr val="1C2C4E"/>
          </a:solidFill>
          <a:ln>
            <a:solidFill>
              <a:srgbClr val="1C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6336792" y="1540651"/>
            <a:ext cx="32918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57276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2037"/>
                </a:solidFill>
                <a:latin typeface="Aptos"/>
              </a:rPr>
              <a:t>Future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2020824"/>
            <a:ext cx="4553712" cy="20621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D6070"/>
                </a:solidFill>
                <a:latin typeface="Aptos"/>
              </a:rPr>
              <a:t>Tune hyperparameters and compare additional ensemble methods such as XGBoost.
Use cross-validation and evaluate the log(1 + area) target transformation for robustness.
Deploy as a decision-support dashboard using weather and environmental inputs.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5897880"/>
            <a:ext cx="21945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 i="0">
                <a:solidFill>
                  <a:srgbClr val="85183F"/>
                </a:solidFill>
                <a:latin typeface="Aptos"/>
              </a:rPr>
              <a:t>Thank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6263640"/>
            <a:ext cx="292608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0" i="0">
                <a:solidFill>
                  <a:srgbClr val="5D6070"/>
                </a:solidFill>
                <a:latin typeface="Aptos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1105</Words>
  <Application>Microsoft Office PowerPoint</Application>
  <PresentationFormat>Widescreen</PresentationFormat>
  <Paragraphs>169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Rishita</dc:creator>
  <cp:keywords/>
  <dc:description>generated using python-pptx</dc:description>
  <cp:lastModifiedBy>k25.rishita@gmail.com</cp:lastModifiedBy>
  <cp:revision>2</cp:revision>
  <dcterms:created xsi:type="dcterms:W3CDTF">2013-01-27T09:14:16Z</dcterms:created>
  <dcterms:modified xsi:type="dcterms:W3CDTF">2026-09-24T07:02:06Z</dcterms:modified>
  <cp:category/>
</cp:coreProperties>
</file>