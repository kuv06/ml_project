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1A1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01A18"/>
                </a:solidFill>
                <a:latin typeface="Arial"/>
              </a:rPr>
              <a:t>Average Burned Area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Burned Area (ha)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625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Feb</c:v>
                  </c:pt>
                  <c:pt idx="1">
                    <c:v>Mar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Dec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7.9</c:v>
                </c:pt>
                <c:pt idx="1">
                  <c:v>4.36</c:v>
                </c:pt>
                <c:pt idx="2">
                  <c:v>1.32</c:v>
                </c:pt>
                <c:pt idx="3">
                  <c:v>14.7</c:v>
                </c:pt>
                <c:pt idx="4">
                  <c:v>12.49</c:v>
                </c:pt>
                <c:pt idx="5">
                  <c:v>18.9</c:v>
                </c:pt>
                <c:pt idx="6">
                  <c:v>13.33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625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F4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625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temp</c:v>
                  </c:pt>
                  <c:pt idx="1">
                    <c:v>RH</c:v>
                  </c:pt>
                  <c:pt idx="2">
                    <c:v>DMC</c:v>
                  </c:pt>
                  <c:pt idx="3">
                    <c:v>DC</c:v>
                  </c:pt>
                  <c:pt idx="4">
                    <c:v>wind</c:v>
                  </c:pt>
                  <c:pt idx="5">
                    <c:v>X</c:v>
                  </c:pt>
                  <c:pt idx="6">
                    <c:v>FFMC</c:v>
                  </c:pt>
                  <c:pt idx="7">
                    <c:v>ISI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0.129</c:v>
                </c:pt>
                <c:pt idx="1">
                  <c:v>0.116</c:v>
                </c:pt>
                <c:pt idx="2">
                  <c:v>0.097</c:v>
                </c:pt>
                <c:pt idx="3">
                  <c:v>0.097</c:v>
                </c:pt>
                <c:pt idx="4">
                  <c:v>0.089</c:v>
                </c:pt>
                <c:pt idx="5">
                  <c:v>0.085</c:v>
                </c:pt>
                <c:pt idx="6">
                  <c:v>0.083</c:v>
                </c:pt>
                <c:pt idx="7">
                  <c:v>0.082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625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1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1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B8420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F4F3D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Fire Risk from Weather Data: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Study, Algorithms, Results &amp; Comparative Analysis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Gradient Boosting on the UCI Montesinho Forest Fires Dataset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2011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Kuvira  •  K. Rishita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219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case-based scenario grounding the problem in a real decision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0" y="1856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2219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looks like, and what it told us before modelling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735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00200" y="3273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Implementation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639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Boosting, regression and classification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1089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2735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3273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639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cross-validated metrics for both framings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908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00200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Related Work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50566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approach differs from a published reference paper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5262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6908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15200" y="4690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0" y="50566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next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Case-Based Scenario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29768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6355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1A18"/>
                </a:solidFill>
              </a:rPr>
              <a:t>Montesinho Natural Park, Portugal — Fire Lookout Station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18"/>
                </a:solidFill>
              </a:rPr>
              <a:t>It's a dry Tuesday in September. Rui, a park ranger, is on duty at the central lookout tower. His weather station reports today's readings — temperature, humidity, wind, and the Fire Weather Index components describing how dry the forest floor is.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18"/>
                </a:solidFill>
              </a:rPr>
              <a:t>The park has 20 lookout stations, but only 6 rangers on shift. Rui must decide, every morning, where to send his limited patrols — a decision that has always relied on intuition and a rough monthly calendar.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420A"/>
                </a:solidFill>
              </a:rPr>
              <a:t>The question: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1A18"/>
                </a:solidFill>
              </a:rPr>
              <a:t>using only weather-station readings — no satellite imagery — can we flag, station by station, whether today's fire risk is Low, Medium, or High, so patrols go where they matter most?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1F1B1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2331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caught and responded to early burn far smaller areas. A model that reliably flags elevated risk lets a small ranger team act like a much larger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657600"/>
            <a:ext cx="3383280" cy="0"/>
          </a:xfrm>
          <a:prstGeom prst="line">
            <a:avLst/>
          </a:prstGeom>
          <a:noFill/>
          <a:ln w="12700">
            <a:solidFill>
              <a:srgbClr val="544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840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9C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real UCI Forest Fires dataset (Cortez &amp; Morais, 2007) — 517 historical records from this same park.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385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Both Framings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burned area (regression) and a Low/Medium/High risk category (classification) from the same weather features.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9385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Honestly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every model against a naive baseline and cross-validate, rather than reporting a single flattering split.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9776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9044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Drivers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which weather variables matter most for fire risk using feature importance.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39776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9044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Related 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434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our weather-only approach against a published satellite-based method.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590C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783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525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916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93192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grid coordinates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day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Weather Index: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FFMC, DMC, DC, ISI (surface, duff, and deep-layer dryness)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RH, wind, rain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(hectares burned)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Findings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309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91640"/>
            <a:ext cx="459943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24048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23317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area is extremely right-skewed — most records are zero or near-zero, with a handful of extreme fires.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300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32278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and September show the highest average burned area, matching the region's dry season.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0" y="419709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4123944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weather variable correlates strongly with area alone — fire spread is multi-factorial.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0" y="509320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15" name="Text 12"/>
          <p:cNvSpPr/>
          <p:nvPr/>
        </p:nvSpPr>
        <p:spPr>
          <a:xfrm>
            <a:off x="7726680" y="50200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outlier fires detected via IQR method on the target variable.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0452" y="2148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33045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4 duplicate rows; confirm zero missing values across all 13 columns.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9464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98064" y="19202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79876" y="2148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07792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35224" y="324612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 columns: month, day.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7488" y="19202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9300" y="2148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57216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Target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84648" y="324612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log(1 + area) to compress extreme fires before training the regressor.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68312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96912" y="19202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8724" y="2148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807872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Risk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34072" y="324612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Low / Medium / High risk bands directly from burned area for the classifier.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17736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46336" y="192024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28148" y="2148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1" name="Text 29"/>
          <p:cNvSpPr/>
          <p:nvPr/>
        </p:nvSpPr>
        <p:spPr>
          <a:xfrm>
            <a:off x="1032814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56064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Validate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83496" y="3246120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split, plus 5-fold cross-validation for robustness.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&amp; Gradient Boosting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440680" cy="7315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463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decision trees on bootstrapped samples, each considering a random subset of features per split. Predictions are averaged (regression) or majority-voted (classification) across all trees — reducing overfitting versus a single tree.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440680" cy="73152"/>
          </a:xfrm>
          <a:prstGeom prst="rect">
            <a:avLst/>
          </a:prstGeom>
          <a:solidFill>
            <a:srgbClr val="2F4F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8463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shallow trees sequentially. Each new tree is trained to correct the residual errors of the trees built so far, combined via a learning rate that controls each tree's contribution.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F1B1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92040"/>
            <a:ext cx="10469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 (ColumnTransformer + model) — 300 trees, learning rate 0.05, max depth 3 for Gradient Boosting — trained twice: once as a regressor on log(1+area), once as a classifier on the Low/Medium/High label.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— Honestly Reported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(log target, evaluated on hectares)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(Low / Medium / High risk)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6052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DEDE3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4343400"/>
            <a:ext cx="10469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honestly: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regressors land close to a "predict the mean" baseline, and both classifiers land close to the majority-class baseline. This is consistent with the original dataset creators' (Cortez &amp; Morais, 2007) own findings — weather data alone is a genuinely hard signal for this target. We report this transparently rather than cherry-picking a flattering metric.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Drive Fire Risk?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691640"/>
            <a:ext cx="3090672" cy="4297680"/>
          </a:xfrm>
          <a:prstGeom prst="roundRect">
            <a:avLst>
              <a:gd name="adj" fmla="val 2367"/>
            </a:avLst>
          </a:prstGeom>
          <a:solidFill>
            <a:srgbClr val="1F1B18"/>
          </a:solidFill>
          <a:ln/>
        </p:spPr>
      </p:sp>
      <p:sp>
        <p:nvSpPr>
          <p:cNvPr id="7" name="Text 4"/>
          <p:cNvSpPr/>
          <p:nvPr/>
        </p:nvSpPr>
        <p:spPr>
          <a:xfrm>
            <a:off x="882396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(Random Forest classifier):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23960" y="2651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variables (temperature, humidity) and drought-code components (DMC, DC) matter most — sensible, since they reflect how dry the fuel and duff layers are. Location and wind follow. Month and day contribute comparatively little once weather is included.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 to the Reference Paper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Shivashankar et al. (2024) — Forest Fire Prediction Using Random Forest Regressor (MODIS satellite data)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43984"/>
                <a:gridCol w="4453128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1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MODIS satellite imagery (Terra)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weather-station readings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Fire-detection confidence (0-100)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Burned area (ha) / risk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 detected hotspot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risk before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Regressor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Gradient Boosting (regression &amp; classification)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70:30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80:20 split + 5-fold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 accuracy, R² = 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≈ 0, ~45-50% classification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web app + REST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stage only (future work)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DED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Results Differ — And Why That's Okay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69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84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problems, not different skill levels.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temperature in satellite data is a direct physical signal of heat — the paper confirms fires already observed. We forecast risk from indirect weather signals, before any fire exists. That's a fundamentally harder task.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6118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547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independently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502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 matches Cortez &amp; Morais (2007) — the original creators of this dataset — who found the same limitation.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383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36118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3547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framings compared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9502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regression AND classification on the same data; the paper reports one framing.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502920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965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included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benchmarked against a naive baseline — the paper does not report this comparison.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006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1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502920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4F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965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not inflated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53675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near-baseline results honestly rather than selecting a flattering metric.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  |  Team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F4F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B8420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777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alone gives a modest, honest signal —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that's a real, defensible finding.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88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Medium + High into a single Fire / No-Fire label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558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(SMOTE / class weighting)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227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hyperparameters; try XGBoost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48970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weather + satellite features — complementary, not competing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2011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2026-09-26T04:37:51Z</dcterms:created>
  <dcterms:modified xsi:type="dcterms:W3CDTF">2026-09-26T04:37:51Z</dcterms:modified>
</cp:coreProperties>
</file>